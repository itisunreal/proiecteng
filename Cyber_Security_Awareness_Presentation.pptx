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98" r:id="rId2"/>
    <p:sldId id="300" r:id="rId3"/>
    <p:sldId id="258" r:id="rId4"/>
    <p:sldId id="262" r:id="rId5"/>
    <p:sldId id="266" r:id="rId6"/>
    <p:sldId id="267" r:id="rId7"/>
    <p:sldId id="271" r:id="rId8"/>
    <p:sldId id="272" r:id="rId9"/>
    <p:sldId id="286" r:id="rId10"/>
    <p:sldId id="276" r:id="rId11"/>
    <p:sldId id="289" r:id="rId12"/>
    <p:sldId id="290" r:id="rId13"/>
    <p:sldId id="291" r:id="rId14"/>
    <p:sldId id="285" r:id="rId15"/>
    <p:sldId id="275" r:id="rId16"/>
    <p:sldId id="273" r:id="rId17"/>
    <p:sldId id="301" r:id="rId18"/>
    <p:sldId id="274" r:id="rId19"/>
    <p:sldId id="281" r:id="rId20"/>
    <p:sldId id="30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4A75A-5B37-4137-99DE-74698903DE1A}" type="datetimeFigureOut">
              <a:rPr lang="en-GB" smtClean="0"/>
              <a:t>31/03/2022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FB3CC-5211-4C99-A6CB-A9B5EC46FF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46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435967-1E4C-4457-8768-A2D78AFC0D8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27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201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882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186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i="0" dirty="0">
              <a:solidFill>
                <a:srgbClr val="008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002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980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295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6574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8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2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033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717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81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134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1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0861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931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335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6189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35967-1E4C-4457-8768-A2D78AFC0D8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462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7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1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3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6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35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8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64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2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38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9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6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35ED6-8723-7F4D-AE5B-CBFD795DE668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F8BC4-0F48-8840-A04A-045D4856ED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67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900" b="1" dirty="0">
                <a:solidFill>
                  <a:srgbClr val="193B6A"/>
                </a:solidFill>
                <a:latin typeface="Raleway"/>
              </a:rPr>
              <a:t>Cyber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Vlad Rotariu</a:t>
            </a:r>
          </a:p>
        </p:txBody>
      </p:sp>
    </p:spTree>
    <p:extLst>
      <p:ext uri="{BB962C8B-B14F-4D97-AF65-F5344CB8AC3E}">
        <p14:creationId xmlns:p14="http://schemas.microsoft.com/office/powerpoint/2010/main" val="557627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180B-89EF-4883-A1AE-16A1907F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Presentation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43C3E-6611-4E10-A1DD-492D7D6B83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Need for Cyber Security</a:t>
            </a:r>
          </a:p>
          <a:p>
            <a:r>
              <a:rPr lang="en-GB" dirty="0"/>
              <a:t>Threats:</a:t>
            </a:r>
          </a:p>
          <a:p>
            <a:pPr lvl="1"/>
            <a:r>
              <a:rPr lang="en-GB" dirty="0"/>
              <a:t>Hacking</a:t>
            </a:r>
          </a:p>
          <a:p>
            <a:pPr lvl="1"/>
            <a:r>
              <a:rPr lang="en-GB" dirty="0"/>
              <a:t>Malware</a:t>
            </a:r>
          </a:p>
          <a:p>
            <a:pPr lvl="1"/>
            <a:r>
              <a:rPr lang="en-GB" dirty="0"/>
              <a:t>Phishing</a:t>
            </a:r>
          </a:p>
          <a:p>
            <a:r>
              <a:rPr lang="en-GB" dirty="0"/>
              <a:t>Stay Secure</a:t>
            </a:r>
          </a:p>
          <a:p>
            <a:pPr lvl="1"/>
            <a:r>
              <a:rPr lang="en-GB" dirty="0"/>
              <a:t>Internet Shopping</a:t>
            </a:r>
          </a:p>
          <a:p>
            <a:pPr lvl="1"/>
            <a:r>
              <a:rPr lang="en-GB" dirty="0"/>
              <a:t>Internet Banking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86BEF-7910-482D-A183-0C27B019749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Personal Privacy</a:t>
            </a:r>
          </a:p>
          <a:p>
            <a:pPr lvl="1"/>
            <a:r>
              <a:rPr lang="en-GB" dirty="0"/>
              <a:t>Public Wi-Fi</a:t>
            </a:r>
          </a:p>
          <a:p>
            <a:pPr lvl="1"/>
            <a:r>
              <a:rPr lang="en-GB" dirty="0"/>
              <a:t>Passwords</a:t>
            </a:r>
          </a:p>
          <a:p>
            <a:pPr lvl="1"/>
            <a:r>
              <a:rPr lang="en-GB" dirty="0"/>
              <a:t>Router</a:t>
            </a:r>
          </a:p>
          <a:p>
            <a:pPr lvl="1"/>
            <a:r>
              <a:rPr lang="en-GB" dirty="0"/>
              <a:t>Internet of Things (IOT)</a:t>
            </a:r>
          </a:p>
          <a:p>
            <a:r>
              <a:rPr lang="en-GB" dirty="0"/>
              <a:t>QR Codes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Support &amp; Resources</a:t>
            </a:r>
          </a:p>
        </p:txBody>
      </p:sp>
    </p:spTree>
    <p:extLst>
      <p:ext uri="{BB962C8B-B14F-4D97-AF65-F5344CB8AC3E}">
        <p14:creationId xmlns:p14="http://schemas.microsoft.com/office/powerpoint/2010/main" val="3747099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785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93B6A"/>
                </a:solidFill>
                <a:latin typeface="Raleway SemiBold" charset="0"/>
                <a:ea typeface="Raleway SemiBold" charset="0"/>
                <a:cs typeface="Raleway SemiBold" charset="0"/>
              </a:rPr>
              <a:t>Why is Cyber Awareness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3417"/>
            <a:ext cx="9637059" cy="3836054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Raleway" charset="0"/>
                <a:ea typeface="Raleway" charset="0"/>
                <a:cs typeface="Raleway" charset="0"/>
              </a:rPr>
              <a:t>Cyber crime is a growing trend</a:t>
            </a:r>
          </a:p>
          <a:p>
            <a:r>
              <a:rPr lang="en-US" sz="3200" dirty="0">
                <a:latin typeface="Raleway" charset="0"/>
                <a:ea typeface="Raleway" charset="0"/>
                <a:cs typeface="Raleway" charset="0"/>
              </a:rPr>
              <a:t>Raise awareness of threats </a:t>
            </a:r>
          </a:p>
          <a:p>
            <a:r>
              <a:rPr lang="en-US" sz="3200" dirty="0">
                <a:latin typeface="Raleway" charset="0"/>
                <a:ea typeface="Raleway" charset="0"/>
                <a:cs typeface="Raleway" charset="0"/>
              </a:rPr>
              <a:t>As with most crimes the police can’t tackle this problem alone</a:t>
            </a:r>
          </a:p>
          <a:p>
            <a:r>
              <a:rPr lang="en-US" sz="3200" dirty="0">
                <a:latin typeface="Raleway" charset="0"/>
                <a:ea typeface="Raleway" charset="0"/>
                <a:cs typeface="Raleway" charset="0"/>
              </a:rPr>
              <a:t>To encourage reporting </a:t>
            </a:r>
          </a:p>
          <a:p>
            <a:r>
              <a:rPr lang="en-US" sz="3200" dirty="0">
                <a:latin typeface="Raleway" charset="0"/>
                <a:ea typeface="Raleway" charset="0"/>
                <a:cs typeface="Raleway" charset="0"/>
              </a:rPr>
              <a:t>Promote Government backed scheme ‘Cyber Essentials’</a:t>
            </a:r>
          </a:p>
          <a:p>
            <a:r>
              <a:rPr lang="en-US" sz="3200" dirty="0">
                <a:latin typeface="Raleway" charset="0"/>
                <a:ea typeface="Raleway" charset="0"/>
                <a:cs typeface="Raleway" charset="0"/>
              </a:rPr>
              <a:t>Cyber crime is massively under reported.</a:t>
            </a:r>
          </a:p>
          <a:p>
            <a:endParaRPr lang="en-US" sz="3200" dirty="0"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836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819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93B6A"/>
                </a:solidFill>
                <a:latin typeface="Raleway SemiBold" charset="0"/>
                <a:ea typeface="Raleway SemiBold" charset="0"/>
                <a:cs typeface="Raleway SemiBold" charset="0"/>
              </a:rPr>
              <a:t>How Cyber crime affects the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7331"/>
            <a:ext cx="9744635" cy="4351338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Raleway" charset="0"/>
                <a:ea typeface="Raleway" charset="0"/>
                <a:cs typeface="Raleway" charset="0"/>
              </a:rPr>
              <a:t>Approximately 12.5% of the world economy is online.</a:t>
            </a:r>
          </a:p>
          <a:p>
            <a:r>
              <a:rPr lang="en-US" sz="2400" dirty="0">
                <a:latin typeface="Raleway" charset="0"/>
                <a:ea typeface="Raleway" charset="0"/>
                <a:cs typeface="Raleway" charset="0"/>
              </a:rPr>
              <a:t>It poses a risk if the correct security measures aren’t taken.</a:t>
            </a:r>
          </a:p>
          <a:p>
            <a:r>
              <a:rPr lang="en-US" sz="2400" dirty="0">
                <a:latin typeface="Raleway" charset="0"/>
                <a:ea typeface="Raleway" charset="0"/>
                <a:cs typeface="Raleway" charset="0"/>
              </a:rPr>
              <a:t>In 2016 49% of businesses were breached. It’s not a matter of if but when.</a:t>
            </a:r>
          </a:p>
          <a:p>
            <a:r>
              <a:rPr lang="en-GB" altLang="en-US" sz="2400" dirty="0">
                <a:latin typeface="Raleway"/>
                <a:cs typeface="Arial" pitchFamily="34" charset="0"/>
              </a:rPr>
              <a:t>According to an Office for National Statistics Survey, there were almost 6 million Cyber Crime and Fraud offences in 2016, which means these crime types now make up half of all crime in England and Wales. That’s 1/10 of people in England and Wales.</a:t>
            </a:r>
          </a:p>
          <a:p>
            <a:endParaRPr lang="en-US" sz="2400" dirty="0">
              <a:latin typeface="Raleway" charset="0"/>
              <a:ea typeface="Raleway" charset="0"/>
              <a:cs typeface="Raleway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1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7347-E0B6-40C3-9F03-56621964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D51A3-0021-4BB9-AB4A-8D6ED6E2A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69"/>
            <a:ext cx="10515600" cy="4178619"/>
          </a:xfrm>
        </p:spPr>
        <p:txBody>
          <a:bodyPr>
            <a:normAutofit/>
          </a:bodyPr>
          <a:lstStyle/>
          <a:p>
            <a:r>
              <a:rPr lang="en-GB" dirty="0"/>
              <a:t>Financial (theft, fraud, blackmail)</a:t>
            </a:r>
          </a:p>
          <a:p>
            <a:r>
              <a:rPr lang="en-GB" dirty="0"/>
              <a:t>Political /state (state level/ military)</a:t>
            </a:r>
          </a:p>
          <a:p>
            <a:r>
              <a:rPr lang="en-GB" dirty="0"/>
              <a:t>Fame/ kudos (fun/ status)</a:t>
            </a:r>
          </a:p>
          <a:p>
            <a:r>
              <a:rPr lang="en-GB" dirty="0"/>
              <a:t>Hacktivism (cause)</a:t>
            </a:r>
          </a:p>
          <a:p>
            <a:r>
              <a:rPr lang="en-GB" dirty="0"/>
              <a:t>Pen testers (legal hacking)</a:t>
            </a:r>
          </a:p>
          <a:p>
            <a:r>
              <a:rPr lang="en-GB" dirty="0"/>
              <a:t>Police</a:t>
            </a:r>
          </a:p>
          <a:p>
            <a:r>
              <a:rPr lang="en-GB" dirty="0"/>
              <a:t>Insider</a:t>
            </a:r>
          </a:p>
          <a:p>
            <a:r>
              <a:rPr lang="en-GB" dirty="0"/>
              <a:t>Business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7DF553-ECE7-4AEB-BC60-516ADDF4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1650" y="3429000"/>
            <a:ext cx="4317833" cy="241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1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95DC-F05E-48E5-A7A5-06090E37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Common threats - Ransomware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98942-39DB-44B2-9F43-DD5ACD329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891" y="1506029"/>
            <a:ext cx="10515600" cy="4504154"/>
          </a:xfrm>
        </p:spPr>
        <p:txBody>
          <a:bodyPr>
            <a:normAutofit/>
          </a:bodyPr>
          <a:lstStyle/>
          <a:p>
            <a:r>
              <a:rPr lang="en-GB" dirty="0"/>
              <a:t>Normally loaded onto a computer via a download/attachment/link from an email or website. </a:t>
            </a:r>
          </a:p>
          <a:p>
            <a:r>
              <a:rPr lang="en-GB" dirty="0"/>
              <a:t>Will either lock the screen or encrypt your data.</a:t>
            </a:r>
          </a:p>
          <a:p>
            <a:r>
              <a:rPr lang="en-GB" dirty="0"/>
              <a:t>Once Ransomware is uploaded on your computer/tablet/phone it is very difficult to remove without removing all of the data</a:t>
            </a:r>
          </a:p>
          <a:p>
            <a:r>
              <a:rPr lang="en-GB" dirty="0"/>
              <a:t>Wannacry attack 2017 - One of the biggest cyber attacks to occur. </a:t>
            </a:r>
          </a:p>
          <a:p>
            <a:r>
              <a:rPr lang="en-GB" dirty="0"/>
              <a:t>Is said to have hit 300,000 computers in 150 countries.</a:t>
            </a:r>
          </a:p>
          <a:p>
            <a:r>
              <a:rPr lang="en-GB" dirty="0"/>
              <a:t>Companies affected include; NHS, Renault, FedEx, Spanish telecoms and gas companies, German railways.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7D2041-9DFA-4E79-93F1-37D787B3CE53}"/>
              </a:ext>
            </a:extLst>
          </p:cNvPr>
          <p:cNvSpPr txBox="1">
            <a:spLocks/>
          </p:cNvSpPr>
          <p:nvPr/>
        </p:nvSpPr>
        <p:spPr>
          <a:xfrm>
            <a:off x="838200" y="3648722"/>
            <a:ext cx="6839505" cy="994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170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58FE-1B34-48CD-BD79-91C169BA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How to tackle Ransomware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2C587-C0C7-4566-BF1F-59A2320B3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899"/>
            <a:ext cx="10515600" cy="4351338"/>
          </a:xfrm>
        </p:spPr>
        <p:txBody>
          <a:bodyPr/>
          <a:lstStyle/>
          <a:p>
            <a:r>
              <a:rPr lang="en-GB" dirty="0"/>
              <a:t>Back up- Keep a backed up copy of your data. Ensure its not permanently connected to the network.</a:t>
            </a:r>
          </a:p>
          <a:p>
            <a:r>
              <a:rPr lang="en-GB" dirty="0"/>
              <a:t>Patch- Keep your software up to date. Wannacry was successful as those affected computers hadn’t updated. The update contained a fix for the problem.</a:t>
            </a:r>
          </a:p>
          <a:p>
            <a:r>
              <a:rPr lang="en-GB" dirty="0"/>
              <a:t>Attachments- Don’t click on links from emails/SMS as this could easily be from an untrusted source and contain malware like Ransomware</a:t>
            </a:r>
          </a:p>
        </p:txBody>
      </p:sp>
    </p:spTree>
    <p:extLst>
      <p:ext uri="{BB962C8B-B14F-4D97-AF65-F5344CB8AC3E}">
        <p14:creationId xmlns:p14="http://schemas.microsoft.com/office/powerpoint/2010/main" val="3568257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60AB-F265-4B0A-9E71-513EC6FA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Phishing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EDE4B7-A3BA-4E16-97B3-13321487B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50243" y="2805303"/>
            <a:ext cx="4804719" cy="3334921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9FB43-E815-4963-84AF-0785D04B0DE5}"/>
              </a:ext>
            </a:extLst>
          </p:cNvPr>
          <p:cNvSpPr txBox="1"/>
          <p:nvPr/>
        </p:nvSpPr>
        <p:spPr>
          <a:xfrm>
            <a:off x="626076" y="1506022"/>
            <a:ext cx="11096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Is the attempt to obtain sensitive information by deception.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They will be after your login credentials, payment card details or to upload malware to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email will normally impersonate a genuine company or person.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E0480-67BE-452A-A684-05DADE71FCDF}"/>
              </a:ext>
            </a:extLst>
          </p:cNvPr>
          <p:cNvSpPr txBox="1"/>
          <p:nvPr/>
        </p:nvSpPr>
        <p:spPr>
          <a:xfrm>
            <a:off x="755822" y="2965622"/>
            <a:ext cx="41456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dirty="0">
                <a:solidFill>
                  <a:srgbClr val="193B6A"/>
                </a:solidFill>
                <a:latin typeface="Raleway SemiBold"/>
              </a:rPr>
              <a:t>How to tackle the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74EF29-126C-47C7-837C-91851AC1639A}"/>
              </a:ext>
            </a:extLst>
          </p:cNvPr>
          <p:cNvSpPr txBox="1"/>
          <p:nvPr/>
        </p:nvSpPr>
        <p:spPr>
          <a:xfrm>
            <a:off x="755822" y="3682314"/>
            <a:ext cx="43681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Don’t click any links on an email unless you can guarantee who its from.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a trusted method of contacting the company via a phone number, app or website.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Mark the email as spam and contact the organisation.</a:t>
            </a:r>
          </a:p>
        </p:txBody>
      </p:sp>
    </p:spTree>
    <p:extLst>
      <p:ext uri="{BB962C8B-B14F-4D97-AF65-F5344CB8AC3E}">
        <p14:creationId xmlns:p14="http://schemas.microsoft.com/office/powerpoint/2010/main" val="764269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4FA8-2942-4BC6-B8D5-8A27B07CB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231"/>
            <a:ext cx="10515600" cy="1325563"/>
          </a:xfrm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What to look out for when shopping on the internet?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0D459D-D56F-4044-968F-BFF7640E41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448616"/>
            <a:ext cx="4506097" cy="337957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E81DDD-9155-479B-922D-4D05D48B978C}"/>
              </a:ext>
            </a:extLst>
          </p:cNvPr>
          <p:cNvSpPr txBox="1"/>
          <p:nvPr/>
        </p:nvSpPr>
        <p:spPr>
          <a:xfrm>
            <a:off x="838199" y="2100648"/>
            <a:ext cx="53401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Ensure you’re on the correct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HTTPS and the padlock- The ‘S’ stands for secure, this means you have a secure connection to the website. This should prevent a ‘man in the middle’ attack. It encrypts your data and the receiver will be able to decrypt it but if it is a fraudulent website they will still obtain your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a credit card/ PayPal when conducting online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750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2642-1E4D-46C3-B33A-3BA2CAA0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Public Wi-Fi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34A56-117A-4A10-A166-C6B0BA75B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95053"/>
          </a:xfrm>
        </p:spPr>
        <p:txBody>
          <a:bodyPr/>
          <a:lstStyle/>
          <a:p>
            <a:r>
              <a:rPr lang="en-GB" dirty="0"/>
              <a:t>May not be trustworthy. They could share your information to other companies who operate in countries without any data protection.</a:t>
            </a:r>
          </a:p>
          <a:p>
            <a:r>
              <a:rPr lang="en-GB" dirty="0"/>
              <a:t>You may not know who is watching you whilst you’re online.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b="1" dirty="0">
                <a:solidFill>
                  <a:srgbClr val="193B6A"/>
                </a:solidFill>
                <a:latin typeface="Raleway SemiBold"/>
              </a:rPr>
              <a:t>What to do and not do to</a:t>
            </a:r>
          </a:p>
          <a:p>
            <a:r>
              <a:rPr lang="en-GB" dirty="0"/>
              <a:t>Don’t use online banking. Use your own data.</a:t>
            </a:r>
          </a:p>
          <a:p>
            <a:r>
              <a:rPr lang="en-GB" dirty="0"/>
              <a:t>Don’t conduct any purchases </a:t>
            </a:r>
          </a:p>
          <a:p>
            <a:r>
              <a:rPr lang="en-GB" dirty="0"/>
              <a:t>Use a virtual private network (VPN)</a:t>
            </a:r>
          </a:p>
        </p:txBody>
      </p:sp>
    </p:spTree>
    <p:extLst>
      <p:ext uri="{BB962C8B-B14F-4D97-AF65-F5344CB8AC3E}">
        <p14:creationId xmlns:p14="http://schemas.microsoft.com/office/powerpoint/2010/main" val="284947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C5D4005-0FA0-479E-BC71-915AA040AB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6506" t="7184" r="17226"/>
          <a:stretch/>
        </p:blipFill>
        <p:spPr>
          <a:xfrm>
            <a:off x="2714009" y="889044"/>
            <a:ext cx="6071287" cy="478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30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61007E-1FA1-45A3-8362-ED3AC7B85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456" t="1153" r="7928"/>
          <a:stretch/>
        </p:blipFill>
        <p:spPr>
          <a:xfrm>
            <a:off x="1428345" y="658791"/>
            <a:ext cx="8625016" cy="541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8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3135FC8-2A7D-4584-A326-F5F39A0EB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1024" r="11983"/>
          <a:stretch/>
        </p:blipFill>
        <p:spPr>
          <a:xfrm>
            <a:off x="2224215" y="669705"/>
            <a:ext cx="7199871" cy="526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00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1BAED-B427-4357-AD0F-BE851E4F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Passwords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39B03-37AE-4A58-9355-2C1711425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1 password per account.</a:t>
            </a:r>
          </a:p>
          <a:p>
            <a:r>
              <a:rPr lang="en-GB" dirty="0"/>
              <a:t>Three random words is the NCSC’s advice. Capitals, special characters and numbers is your own choice.</a:t>
            </a:r>
          </a:p>
          <a:p>
            <a:r>
              <a:rPr lang="en-GB" dirty="0"/>
              <a:t>If you follow this advice your passwords security will be significantly increased against a brute force attack.</a:t>
            </a:r>
          </a:p>
          <a:p>
            <a:r>
              <a:rPr lang="en-GB" dirty="0"/>
              <a:t>Password managers can be helpful to store your passwords.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65023D-D16D-4180-AE53-C5B9F7467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210" y="4476621"/>
            <a:ext cx="1285142" cy="170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99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8E7BC-F030-4885-8764-5B4369B9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2B453-F867-44CE-876D-4896A6122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physical world we’re good at protecting ourselves and our property, we need to replicate this in the digital world.</a:t>
            </a:r>
          </a:p>
          <a:p>
            <a:r>
              <a:rPr lang="en-GB" dirty="0"/>
              <a:t>80% of cyber-crime is preventable. </a:t>
            </a:r>
          </a:p>
          <a:p>
            <a:endParaRPr lang="en-GB" dirty="0"/>
          </a:p>
          <a:p>
            <a:r>
              <a:rPr lang="en-GB" dirty="0"/>
              <a:t>QR Codes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4913" y="3810000"/>
            <a:ext cx="1695687" cy="170521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2655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65F8-476C-452F-81A4-139581846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5D10-E54A-4D78-B64E-2FACE8055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Update and migrate</a:t>
            </a:r>
          </a:p>
          <a:p>
            <a:r>
              <a:rPr lang="en-GB" dirty="0"/>
              <a:t>Activate your firewall</a:t>
            </a:r>
          </a:p>
          <a:p>
            <a:r>
              <a:rPr lang="en-GB" dirty="0"/>
              <a:t>Staff awareness </a:t>
            </a:r>
          </a:p>
          <a:p>
            <a:r>
              <a:rPr lang="en-GB" dirty="0"/>
              <a:t>Data encryption</a:t>
            </a:r>
          </a:p>
          <a:p>
            <a:r>
              <a:rPr lang="en-GB" dirty="0"/>
              <a:t>User accounts privileges </a:t>
            </a:r>
            <a:r>
              <a:rPr lang="en-GB" dirty="0" err="1"/>
              <a:t>i.e</a:t>
            </a:r>
            <a:r>
              <a:rPr lang="en-GB" dirty="0"/>
              <a:t> admin</a:t>
            </a:r>
          </a:p>
          <a:p>
            <a:r>
              <a:rPr lang="en-GB" dirty="0"/>
              <a:t>Cyber insurance</a:t>
            </a:r>
          </a:p>
          <a:p>
            <a:r>
              <a:rPr lang="en-GB" dirty="0"/>
              <a:t>Prepare Plan</a:t>
            </a:r>
          </a:p>
        </p:txBody>
      </p:sp>
    </p:spTree>
    <p:extLst>
      <p:ext uri="{BB962C8B-B14F-4D97-AF65-F5344CB8AC3E}">
        <p14:creationId xmlns:p14="http://schemas.microsoft.com/office/powerpoint/2010/main" val="3603440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You are the best defence!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Technology is only a small part of Cyber Defence</a:t>
            </a:r>
          </a:p>
          <a:p>
            <a:r>
              <a:rPr lang="en-GB" b="1" dirty="0"/>
              <a:t>You </a:t>
            </a:r>
            <a:r>
              <a:rPr lang="en-GB" dirty="0"/>
              <a:t>are the most important person – protect yourself</a:t>
            </a:r>
          </a:p>
          <a:p>
            <a:r>
              <a:rPr lang="en-GB" dirty="0"/>
              <a:t>For businesses the most important and best defence is Cyber Security Aware employees – train your staff 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/>
              <a:t>Always be aware!</a:t>
            </a:r>
          </a:p>
          <a:p>
            <a:pPr marL="0" indent="0" algn="ctr">
              <a:buNone/>
            </a:pPr>
            <a:r>
              <a:rPr lang="en-GB" dirty="0"/>
              <a:t>Always be on your guard!</a:t>
            </a:r>
          </a:p>
        </p:txBody>
      </p:sp>
    </p:spTree>
    <p:extLst>
      <p:ext uri="{BB962C8B-B14F-4D97-AF65-F5344CB8AC3E}">
        <p14:creationId xmlns:p14="http://schemas.microsoft.com/office/powerpoint/2010/main" val="2402149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9CBF9-530B-4843-AC09-16F73AEF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Reporting Cybercrime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2564-1E00-46EF-9A72-C4507C61C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Online fraud is to be reported to Action Fraud. They’re the national reporting mechanism for fraud. Via;</a:t>
            </a:r>
          </a:p>
          <a:p>
            <a:pPr marL="0" indent="0">
              <a:buNone/>
            </a:pPr>
            <a:r>
              <a:rPr lang="en-GB" dirty="0"/>
              <a:t>   www.actionfraud.police.com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0DA98-5FFF-4D4A-AC20-EAC87A7F0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619" y="4475933"/>
            <a:ext cx="3553902" cy="13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8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D3681-4A61-4630-9519-8FC7D161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4000" b="1" dirty="0">
                <a:solidFill>
                  <a:srgbClr val="193B6A"/>
                </a:solidFill>
                <a:latin typeface="Raleway SemiBold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BD00A-19BB-4CD0-A9CA-59A82B2F3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Cyber essentials </a:t>
            </a:r>
            <a:r>
              <a:rPr lang="en-GB" b="1" kern="0" dirty="0"/>
              <a:t>(www.cyberaware.com/cyberessentials)</a:t>
            </a:r>
          </a:p>
          <a:p>
            <a:r>
              <a:rPr lang="en-GB" b="1" dirty="0"/>
              <a:t>Get safe Online (www.getsafeonline.org)</a:t>
            </a:r>
          </a:p>
          <a:p>
            <a:r>
              <a:rPr lang="en-GB" sz="2800" b="1" dirty="0"/>
              <a:t>Cyber Aware (</a:t>
            </a:r>
            <a:r>
              <a:rPr lang="en-GB" b="1" dirty="0"/>
              <a:t>www.cyberaware.com</a:t>
            </a:r>
            <a:r>
              <a:rPr lang="en-GB" sz="2800" b="1" dirty="0"/>
              <a:t>)</a:t>
            </a:r>
          </a:p>
          <a:p>
            <a:pPr defTabSz="391414">
              <a:spcBef>
                <a:spcPts val="600"/>
              </a:spcBef>
              <a:defRPr sz="1800"/>
            </a:pPr>
            <a:r>
              <a:rPr lang="en-GB" sz="2800" b="1" kern="0" dirty="0"/>
              <a:t>National Cyber Security Centre</a:t>
            </a:r>
            <a:r>
              <a:rPr lang="en-GB" sz="2400" b="1" kern="0" dirty="0"/>
              <a:t> (</a:t>
            </a:r>
            <a:r>
              <a:rPr lang="en-GB" b="1" dirty="0"/>
              <a:t>https://www.ncsc.com/)</a:t>
            </a:r>
          </a:p>
          <a:p>
            <a:endParaRPr lang="en-GB" sz="2800" dirty="0"/>
          </a:p>
          <a:p>
            <a:endParaRPr lang="en-GB" b="1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DFAA1A-A998-4C82-A45B-95674D343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75" y="3936657"/>
            <a:ext cx="2609850" cy="1752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A00E70-E380-4921-9F68-1ED881CB7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04" y="4075735"/>
            <a:ext cx="2810815" cy="913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881BD0-8AD9-4B05-931C-EEF4D7D7D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295" y="2675406"/>
            <a:ext cx="2609850" cy="1507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D9897C-3642-4180-92D9-C807580B6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010" y="4652080"/>
            <a:ext cx="360997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22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AD9A9D-9D3F-420D-BCAE-3140CF334C84}"/>
              </a:ext>
            </a:extLst>
          </p:cNvPr>
          <p:cNvSpPr txBox="1"/>
          <p:nvPr/>
        </p:nvSpPr>
        <p:spPr>
          <a:xfrm>
            <a:off x="879793" y="2045872"/>
            <a:ext cx="1043241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GB" sz="1200" dirty="0">
              <a:solidFill>
                <a:srgbClr val="193B6A"/>
              </a:solidFill>
              <a:latin typeface="Raleway SemiBold"/>
            </a:endParaRPr>
          </a:p>
          <a:p>
            <a:pPr algn="ctr"/>
            <a:endParaRPr lang="en-GB" sz="2000" dirty="0">
              <a:solidFill>
                <a:srgbClr val="193B6A"/>
              </a:solidFill>
              <a:latin typeface="Raleway SemiBold"/>
            </a:endParaRPr>
          </a:p>
          <a:p>
            <a:pPr algn="ctr"/>
            <a:r>
              <a:rPr lang="en-GB" sz="6600" b="1" dirty="0">
                <a:solidFill>
                  <a:srgbClr val="193B6A"/>
                </a:solidFill>
                <a:latin typeface="Bradley Hand ITC" panose="03070402050302030203" pitchFamily="66" charset="0"/>
              </a:rPr>
              <a:t>Thank you</a:t>
            </a:r>
            <a:endParaRPr lang="en-GB" sz="6600" dirty="0">
              <a:solidFill>
                <a:srgbClr val="193B6A"/>
              </a:solidFill>
              <a:latin typeface="Ralew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39306996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887</Words>
  <Application>Microsoft Office PowerPoint</Application>
  <PresentationFormat>Widescreen</PresentationFormat>
  <Paragraphs>129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Bradley Hand ITC</vt:lpstr>
      <vt:lpstr>Calibri</vt:lpstr>
      <vt:lpstr>Calibri Light</vt:lpstr>
      <vt:lpstr>Raleway</vt:lpstr>
      <vt:lpstr>Raleway SemiBold</vt:lpstr>
      <vt:lpstr>1_Office Theme</vt:lpstr>
      <vt:lpstr>Cyber Security</vt:lpstr>
      <vt:lpstr>Presentation Contents</vt:lpstr>
      <vt:lpstr>Why is Cyber Awareness Important?</vt:lpstr>
      <vt:lpstr>How Cyber crime affects the world</vt:lpstr>
      <vt:lpstr>Hacking</vt:lpstr>
      <vt:lpstr>Common threats - Ransomware</vt:lpstr>
      <vt:lpstr>How to tackle Ransomware </vt:lpstr>
      <vt:lpstr>Phishing</vt:lpstr>
      <vt:lpstr>What to look out for when shopping on the internet?</vt:lpstr>
      <vt:lpstr>Public Wi-Fi</vt:lpstr>
      <vt:lpstr>PowerPoint Presentation</vt:lpstr>
      <vt:lpstr>PowerPoint Presentation</vt:lpstr>
      <vt:lpstr>PowerPoint Presentation</vt:lpstr>
      <vt:lpstr>Passwords Advice</vt:lpstr>
      <vt:lpstr>Advice</vt:lpstr>
      <vt:lpstr>Advice</vt:lpstr>
      <vt:lpstr>You are the best defence!</vt:lpstr>
      <vt:lpstr>Reporting Cybercrime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Titley, Janet</dc:creator>
  <cp:lastModifiedBy>Vlad Aurelian Rotariu</cp:lastModifiedBy>
  <cp:revision>29</cp:revision>
  <dcterms:created xsi:type="dcterms:W3CDTF">2018-09-28T07:31:31Z</dcterms:created>
  <dcterms:modified xsi:type="dcterms:W3CDTF">2022-03-31T18:21:59Z</dcterms:modified>
</cp:coreProperties>
</file>